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82296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Smart Lock AI 客服 · V1 上線收斂進度報告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9D6EA"/>
                </a:solidFill>
                <a:latin typeface="Microsoft JhengHei"/>
              </a:rPr>
              <a:t>2026-07-20 三方會議 15 項測試發現 → 07-23 全數處理並上雲驗證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Microsoft JhengHei"/>
              </a:rPr>
              <a:t>① /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788920" cy="214884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Microsoft JhengHei"/>
              </a:rPr>
              <a:t>0720 會議測試發現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5603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>
                <a:solidFill>
                  <a:srgbClr val="1F3864"/>
                </a:solidFill>
                <a:latin typeface="Microsoft JhengHe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25603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Microsoft JhengHei"/>
              </a:rPr>
              <a:t>項全數處理完成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Microsoft JhengHei"/>
              </a:rPr>
              <a:t>4 輪修復 · 16 commits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278892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913632"/>
            <a:ext cx="25603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864"/>
                </a:solidFill>
                <a:latin typeface="Microsoft JhengHei"/>
              </a:rPr>
              <a:t>處理狀態分佈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352544"/>
            <a:ext cx="146304" cy="1463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279392"/>
            <a:ext cx="17373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Microsoft JhengHei"/>
              </a:rPr>
              <a:t>已修復／收案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279392"/>
            <a:ext cx="685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E7D32"/>
                </a:solidFill>
                <a:latin typeface="Microsoft JhengHei"/>
              </a:rPr>
              <a:t>8 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828032"/>
            <a:ext cx="146304" cy="146304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754880"/>
            <a:ext cx="17373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Microsoft JhengHei"/>
              </a:rPr>
              <a:t>已修復待外測回歸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754880"/>
            <a:ext cx="685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68A00"/>
                </a:solidFill>
                <a:latin typeface="Microsoft JhengHei"/>
              </a:rPr>
              <a:t>5 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303520"/>
            <a:ext cx="146304" cy="14630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30368"/>
            <a:ext cx="17373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Microsoft JhengHei"/>
              </a:rPr>
              <a:t>待業主親測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230368"/>
            <a:ext cx="685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E5CB8"/>
                </a:solidFill>
                <a:latin typeface="Microsoft JhengHei"/>
              </a:rPr>
              <a:t>3 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779008"/>
            <a:ext cx="2560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依 0722 判準：code 完成＋代理 UAT＝完成；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親驗以新 finding 開卡不重開 gate。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1463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Microsoft JhengHei"/>
              </a:rPr>
              <a:t>四輪修復成果（依業主裁決逐輪推進）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1874519"/>
            <a:ext cx="4160520" cy="1170432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66160" y="1874519"/>
            <a:ext cx="91440" cy="11704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8" y="1965960"/>
            <a:ext cx="379475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7D32"/>
                </a:solidFill>
                <a:latin typeface="Microsoft JhengHei"/>
              </a:rPr>
              <a:t>A 輪 · 核心 bug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2295144"/>
            <a:ext cx="3813048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7D32"/>
                </a:solidFill>
                <a:latin typeface="Microsoft JhengHei"/>
              </a:rPr>
              <a:t>•  </a:t>
            </a:r>
            <a:r>
              <a:rPr sz="950" b="0">
                <a:solidFill>
                  <a:srgbClr val="1E293B"/>
                </a:solidFill>
                <a:latin typeface="Microsoft JhengHei"/>
              </a:rPr>
              <a:t>轉真人邏輯對齊 · 叫料/延遲按鈕狀態 gate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7D32"/>
                </a:solidFill>
                <a:latin typeface="Microsoft JhengHei"/>
              </a:rPr>
              <a:t>•  </a:t>
            </a:r>
            <a:r>
              <a:rPr sz="950" b="0">
                <a:solidFill>
                  <a:srgbClr val="1E293B"/>
                </a:solidFill>
                <a:latin typeface="Microsoft JhengHei"/>
              </a:rPr>
              <a:t>技師接單時間上工單 · 開單資料自動帶入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7D32"/>
                </a:solidFill>
                <a:latin typeface="Microsoft JhengHei"/>
              </a:rPr>
              <a:t>•  </a:t>
            </a:r>
            <a:r>
              <a:rPr sz="950" b="0">
                <a:solidFill>
                  <a:srgbClr val="1E293B"/>
                </a:solidFill>
                <a:latin typeface="Microsoft JhengHei"/>
              </a:rPr>
              <a:t>技師註冊送出失敗（跨庫鏡射加固）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1874519"/>
            <a:ext cx="4160520" cy="1170432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1874519"/>
            <a:ext cx="91440" cy="1170432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1965960"/>
            <a:ext cx="379475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5CB8"/>
                </a:solidFill>
                <a:latin typeface="Microsoft JhengHei"/>
              </a:rPr>
              <a:t>A2 輪 · 收尾＋規劃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295144"/>
            <a:ext cx="3813048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5CB8"/>
                </a:solidFill>
                <a:latin typeface="Microsoft JhengHei"/>
              </a:rPr>
              <a:t>•  </a:t>
            </a:r>
            <a:r>
              <a:rPr sz="950" b="0">
                <a:solidFill>
                  <a:srgbClr val="1E293B"/>
                </a:solidFill>
                <a:latin typeface="Microsoft JhengHei"/>
              </a:rPr>
              <a:t>客戶姓名自動帶入開單 · 接單流程指引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5CB8"/>
                </a:solidFill>
                <a:latin typeface="Microsoft JhengHei"/>
              </a:rPr>
              <a:t>•  </a:t>
            </a:r>
            <a:r>
              <a:rPr sz="950" b="0">
                <a:solidFill>
                  <a:srgbClr val="1E293B"/>
                </a:solidFill>
                <a:latin typeface="Microsoft JhengHei"/>
              </a:rPr>
              <a:t>拍照回傳、免責連結兩案評估（CIA）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3227832"/>
            <a:ext cx="4160520" cy="1170432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66160" y="3227832"/>
            <a:ext cx="91440" cy="11704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67328" y="3319272"/>
            <a:ext cx="379475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7D32"/>
                </a:solidFill>
                <a:latin typeface="Microsoft JhengHei"/>
              </a:rPr>
              <a:t>B 輪 · 業主四裁決落地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67328" y="3648456"/>
            <a:ext cx="3813048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7D32"/>
                </a:solidFill>
                <a:latin typeface="Microsoft JhengHei"/>
              </a:rPr>
              <a:t>•  </a:t>
            </a:r>
            <a:r>
              <a:rPr sz="950" b="0">
                <a:solidFill>
                  <a:srgbClr val="1E293B"/>
                </a:solidFill>
                <a:latin typeface="Microsoft JhengHei"/>
              </a:rPr>
              <a:t>免責簽署連結 LINE 推播 · AI 樣本圖夾圖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7D32"/>
                </a:solidFill>
                <a:latin typeface="Microsoft JhengHei"/>
              </a:rPr>
              <a:t>•  </a:t>
            </a:r>
            <a:r>
              <a:rPr sz="950" b="0">
                <a:solidFill>
                  <a:srgbClr val="1E293B"/>
                </a:solidFill>
                <a:latin typeface="Microsoft JhengHei"/>
              </a:rPr>
              <a:t>轉真人判準正典對齊（ADR-033）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7D32"/>
                </a:solidFill>
                <a:latin typeface="Microsoft JhengHei"/>
              </a:rPr>
              <a:t>•  </a:t>
            </a:r>
            <a:r>
              <a:rPr sz="950" b="0">
                <a:solidFill>
                  <a:srgbClr val="1E293B"/>
                </a:solidFill>
                <a:latin typeface="Microsoft JhengHei"/>
              </a:rPr>
              <a:t>報價「待覆核」操作路徑釐清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3227832"/>
            <a:ext cx="4160520" cy="1170432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3227832"/>
            <a:ext cx="91440" cy="11704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3319272"/>
            <a:ext cx="379475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7D32"/>
                </a:solidFill>
                <a:latin typeface="Microsoft JhengHei"/>
              </a:rPr>
              <a:t>C 輪 · 殘項清理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3648456"/>
            <a:ext cx="3813048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7D32"/>
                </a:solidFill>
                <a:latin typeface="Microsoft JhengHei"/>
              </a:rPr>
              <a:t>•  </a:t>
            </a:r>
            <a:r>
              <a:rPr sz="950" b="0">
                <a:solidFill>
                  <a:srgbClr val="1E293B"/>
                </a:solidFill>
                <a:latin typeface="Microsoft JhengHei"/>
              </a:rPr>
              <a:t>報價回覆話術精準化 · 附件照片縮圖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7D32"/>
                </a:solidFill>
                <a:latin typeface="Microsoft JhengHei"/>
              </a:rPr>
              <a:t>•  </a:t>
            </a:r>
            <a:r>
              <a:rPr sz="950" b="0">
                <a:solidFill>
                  <a:srgbClr val="1E293B"/>
                </a:solidFill>
                <a:latin typeface="Microsoft JhengHei"/>
              </a:rPr>
              <a:t>產品序號帶入 · 時間軸顯示技師全名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4599431"/>
            <a:ext cx="8549640" cy="129844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67328" y="4718303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☁  上雲部署（2026-07-22～23，Claude 於業主授權下代跑）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67328" y="5148071"/>
            <a:ext cx="2011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B8E0"/>
                </a:solidFill>
                <a:latin typeface="Microsoft JhengHei"/>
              </a:rPr>
              <a:t>api / agent / web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Microsoft JhengHei"/>
              </a:rPr>
              <a:t>三服務重佈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5148071"/>
            <a:ext cx="2011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B8E0"/>
                </a:solidFill>
                <a:latin typeface="Microsoft JhengHei"/>
              </a:rPr>
              <a:t>cs-sop v1.6→1.7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Microsoft JhengHei"/>
              </a:rPr>
              <a:t>SOP 熱更新發佈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6992" y="5148071"/>
            <a:ext cx="2011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B8E0"/>
                </a:solidFill>
                <a:latin typeface="Microsoft JhengHei"/>
              </a:rPr>
              <a:t>image f9165ec1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Microsoft JhengHei"/>
              </a:rPr>
              <a:t>= 最新程式碼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21824" y="5148071"/>
            <a:ext cx="2011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FB8E0"/>
                </a:solidFill>
                <a:latin typeface="Microsoft JhengHei"/>
              </a:rPr>
              <a:t>健康檢查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Microsoft JhengHei"/>
              </a:rPr>
              <a:t>全綠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10528"/>
            <a:ext cx="11430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Microsoft JhengHei"/>
              </a:rPr>
              <a:t>來源：Plane LOCK 專案 UAT-0720 批次 · CHANGELOG · 會議記錄 20260720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82296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UAT 驗證結論與待辦事項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9D6EA"/>
                </a:solidFill>
                <a:latin typeface="Microsoft JhengHei"/>
              </a:rPr>
              <a:t>Claude 代理 UAT：對雲端環境驗證 65 項功能（API 唯讀＋負面測試＋UI 實測）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6EA"/>
                </a:solidFill>
                <a:latin typeface="Microsoft JhengHei"/>
              </a:rPr>
              <a:t>②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Microsoft JhengHei"/>
              </a:rPr>
              <a:t>功能測試涵蓋（V1 規格 65 功能點）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783080" cy="137160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56816"/>
            <a:ext cx="17830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2E7D32"/>
                </a:solidFill>
                <a:latin typeface="Microsoft JhengHei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1783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已測完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1847088"/>
            <a:ext cx="1783080" cy="1371600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956816"/>
            <a:ext cx="17830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C62828"/>
                </a:solidFill>
                <a:latin typeface="Microsoft JhengHe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788920"/>
            <a:ext cx="1783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有問題待改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47088"/>
            <a:ext cx="1783080" cy="1371600"/>
          </a:xfrm>
          <a:prstGeom prst="round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956816"/>
            <a:ext cx="17830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64748B"/>
                </a:solidFill>
                <a:latin typeface="Microsoft JhengHei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788920"/>
            <a:ext cx="1783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UAT 邊界*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10128"/>
            <a:ext cx="5394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JhengHei"/>
              </a:rPr>
              <a:t>* UAT 邊界＝agent 內部行為（需真實 LINE 對話）、資料架構層、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JhengHei"/>
              </a:rPr>
              <a:t>　規劃中功能、需寫入型測試——非黑箱 UAT 可涵蓋，移交外部測試/後續。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5440680" cy="214884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79392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Microsoft JhengHei"/>
              </a:rPr>
              <a:t>已驗證涵蓋範圍（節錄）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5120640" cy="1600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32"/>
                </a:solidFill>
                <a:latin typeface="Microsoft JhengHei"/>
              </a:rPr>
              <a:t>✓  </a:t>
            </a:r>
            <a:r>
              <a:rPr sz="1050" b="0">
                <a:solidFill>
                  <a:srgbClr val="1E293B"/>
                </a:solidFill>
                <a:latin typeface="Microsoft JhengHei"/>
              </a:rPr>
              <a:t>金流全鏈：發票／結算／對帳／退款／佣金／保固理賠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32"/>
                </a:solidFill>
                <a:latin typeface="Microsoft JhengHei"/>
              </a:rPr>
              <a:t>✓  </a:t>
            </a:r>
            <a:r>
              <a:rPr sz="1050" b="0">
                <a:solidFill>
                  <a:srgbClr val="1E293B"/>
                </a:solidFill>
                <a:latin typeface="Microsoft JhengHei"/>
              </a:rPr>
              <a:t>派工：候選媒合／覆寫稽核／SLA 佇列／10 背景排程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32"/>
                </a:solidFill>
                <a:latin typeface="Microsoft JhengHei"/>
              </a:rPr>
              <a:t>✓  </a:t>
            </a:r>
            <a:r>
              <a:rPr sz="1050" b="0">
                <a:solidFill>
                  <a:srgbClr val="1E293B"/>
                </a:solidFill>
                <a:latin typeface="Microsoft JhengHei"/>
              </a:rPr>
              <a:t>後台：儀表板／報表 KPI／稽核權限／例外收件匣／GDPR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32"/>
                </a:solidFill>
                <a:latin typeface="Microsoft JhengHei"/>
              </a:rPr>
              <a:t>✓  </a:t>
            </a:r>
            <a:r>
              <a:rPr sz="1050" b="0">
                <a:solidFill>
                  <a:srgbClr val="1E293B"/>
                </a:solidFill>
                <a:latin typeface="Microsoft JhengHei"/>
              </a:rPr>
              <a:t>0720 修復項全數驗證已隨最新版上線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D32"/>
                </a:solidFill>
                <a:latin typeface="Microsoft JhengHei"/>
              </a:rPr>
              <a:t>✓  </a:t>
            </a:r>
            <a:r>
              <a:rPr sz="1050" b="0">
                <a:solidFill>
                  <a:srgbClr val="1E293B"/>
                </a:solidFill>
                <a:latin typeface="Microsoft JhengHei"/>
              </a:rPr>
              <a:t>UI 實測：登入／排班／補料／工單時間軸（技師接單）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Microsoft JhengHei"/>
              </a:rPr>
              <a:t>UAT 過程新發現（3 項，均已開卡追蹤）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874519"/>
            <a:ext cx="5440680" cy="1353312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1874519"/>
            <a:ext cx="777240" cy="1353312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276856"/>
            <a:ext cx="777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002536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293B"/>
                </a:solidFill>
                <a:latin typeface="Microsoft JhengHei"/>
              </a:rPr>
              <a:t>品牌後台登入全斷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020824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62828"/>
                </a:solidFill>
                <a:latin typeface="Microsoft JhengHei"/>
              </a:rPr>
              <a:t>已修復 · 已部署 · 已驗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386584"/>
            <a:ext cx="4434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Microsoft JhengHei"/>
              </a:rPr>
              <a:t>上雲部署遺留缺陷致任何帳密無法登入；已定位修復並重佈，登入恢復＋補回歸測試防護。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355848"/>
            <a:ext cx="5440680" cy="1353312"/>
          </a:xfrm>
          <a:prstGeom prst="round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63640" y="3355848"/>
            <a:ext cx="777240" cy="1353312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758184"/>
            <a:ext cx="777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P1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483864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293B"/>
                </a:solidFill>
                <a:latin typeface="Microsoft JhengHei"/>
              </a:rPr>
              <a:t>跨面權限讀取越界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502152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68A00"/>
                </a:solidFill>
                <a:latin typeface="Microsoft JhengHei"/>
              </a:rPr>
              <a:t>待業主裁決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867912"/>
            <a:ext cx="4434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Microsoft JhengHei"/>
              </a:rPr>
              <a:t>技師身分可讀到品牌後台部分客戶／金流資料（讀取端點缺角色檢核）；修法已備，待裁決本輪或後續。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837176"/>
            <a:ext cx="5440680" cy="1353312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4837176"/>
            <a:ext cx="777240" cy="1353312"/>
          </a:xfrm>
          <a:prstGeom prst="round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239512"/>
            <a:ext cx="777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P2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96519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293B"/>
                </a:solidFill>
                <a:latin typeface="Microsoft JhengHei"/>
              </a:rPr>
              <a:t>稽核鏈完整性告警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498348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E5CB8"/>
                </a:solidFill>
                <a:latin typeface="Microsoft JhengHei"/>
              </a:rPr>
              <a:t>待追查（研判測試資料）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5349240"/>
            <a:ext cx="4434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Microsoft JhengHei"/>
              </a:rPr>
              <a:t>稽核完整性驗證器偵測到雜湊鏈斷點；研判為測試環境 seed 資料所致，待確認來源後銷案。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6382512"/>
            <a:ext cx="544068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419088"/>
            <a:ext cx="115214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JhengHei"/>
              </a:rPr>
              <a:t>待業主／外測：① git 推送＋品牌 gate 重佈　② P1 權限修復裁決　③ P2 稽核鏈追查　④ 外部測試人員真實 LINE 端到端回歸　｜　交付物：本簡報＋UAT 追蹤表 Excel（65 功能點）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